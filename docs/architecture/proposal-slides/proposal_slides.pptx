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2935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711793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6380550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449689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35321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071824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083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9815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665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065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4843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9982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717DA3-805F-1A75-E20E-DB4B08577578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09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8800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6329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336E78-7449-B7B0-EEA2-3CCFDDEE56D7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1921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4806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02381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F9B21A-98D8-A9AB-2880-80817D75BD93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673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482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278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6F2F44-2132-883B-C0AB-E3A9C333B37A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0590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2076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077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19804C-5878-F5FC-455A-ACCD64A75698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2829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431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3764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C4928C-933E-F0FC-16BF-CC80CF74AAE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334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2291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920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1C8BE4-5537-049A-A596-1332F7CDE9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188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5269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4373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E37928-9084-79B9-88A4-D6777CCA0A50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604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0911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71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C865FA-3990-43E5-3149-2DD60395AA6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726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044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537771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06C788-135A-C0C0-9E71-E0BFF468E1A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69771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920699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178185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172349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00404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5760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087804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66724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364784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81907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84876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35100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1584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85372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88620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4344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695423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617204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57381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5188269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15921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684083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88808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320898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146032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2462800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00416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3392872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431102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6125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5490079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042087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400530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50691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497542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349496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8736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672365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72891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55533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833658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73165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7636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416531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394194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66300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538258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81267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2822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036891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78015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125357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12983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03472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602222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96644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101521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64358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61386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59194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802255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90427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5785750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figma.com/" TargetMode="External"/><Relationship Id="rId4" Type="http://schemas.openxmlformats.org/officeDocument/2006/relationships/hyperlink" Target="https://www.w3schools.com/Html/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www.w3schools.com/css/" TargetMode="External"/><Relationship Id="rId7" Type="http://schemas.openxmlformats.org/officeDocument/2006/relationships/hyperlink" Target="https://developer.mozilla.org/" TargetMode="External"/><Relationship Id="rId8" Type="http://schemas.openxmlformats.org/officeDocument/2006/relationships/hyperlink" Target="https://www.apachefriends.org/" TargetMode="External"/><Relationship Id="rId9" Type="http://schemas.openxmlformats.org/officeDocument/2006/relationships/hyperlink" Target="https://dev.mysql.com/doc/" TargetMode="External"/><Relationship Id="rId10" Type="http://schemas.openxmlformats.org/officeDocument/2006/relationships/hyperlink" Target="https://www.php.net/docs.php" TargetMode="External"/><Relationship Id="rId11" Type="http://schemas.openxmlformats.org/officeDocument/2006/relationships/hyperlink" Target="https://app.diagrams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500459" name="Text 0"/>
          <p:cNvSpPr/>
          <p:nvPr/>
        </p:nvSpPr>
        <p:spPr bwMode="auto">
          <a:xfrm>
            <a:off x="539874" y="1863477"/>
            <a:ext cx="8064252" cy="876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/>
                <a:ea typeface="Montserrat Bold"/>
                <a:cs typeface="Montserrat Bold"/>
              </a:rPr>
              <a:t>PharmaCore — Medicine Inventory Management System</a:t>
            </a:r>
            <a:endParaRPr sz="27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31425941" name="Text 1"/>
          <p:cNvSpPr/>
          <p:nvPr/>
        </p:nvSpPr>
        <p:spPr bwMode="auto">
          <a:xfrm flipH="0" flipV="0">
            <a:off x="539873" y="3048594"/>
            <a:ext cx="7768600" cy="56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A web-based inventory management system designed for pharmacies to automate daily stock control, eliminate the </a:t>
            </a:r>
            <a:endParaRPr lang="en-US" sz="1200">
              <a:solidFill>
                <a:srgbClr val="3D3838"/>
              </a:solidFill>
              <a:latin typeface="Source Sans 3"/>
              <a:ea typeface="Source Sans 3"/>
              <a:cs typeface="Source Sans 3"/>
            </a:endParaRPr>
          </a:p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</a:rPr>
              <a:t>risks of selling expired medicines, and generate alert for low stock, expiring and expired medicines.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040576" name="Text 0"/>
          <p:cNvSpPr/>
          <p:nvPr/>
        </p:nvSpPr>
        <p:spPr bwMode="auto">
          <a:xfrm>
            <a:off x="539874" y="1863477"/>
            <a:ext cx="8064252" cy="876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/>
                <a:ea typeface="Montserrat Bold"/>
                <a:cs typeface="Montserrat Bold"/>
              </a:rPr>
              <a:t>Problem Statement</a:t>
            </a:r>
            <a:endParaRPr sz="27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2533149" name=""/>
          <p:cNvSpPr txBox="1"/>
          <p:nvPr/>
        </p:nvSpPr>
        <p:spPr bwMode="auto">
          <a:xfrm rot="0" flipH="0" flipV="0">
            <a:off x="469672" y="2476499"/>
            <a:ext cx="342774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Poor Stock Management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52716800" name=""/>
          <p:cNvSpPr txBox="1"/>
          <p:nvPr/>
        </p:nvSpPr>
        <p:spPr bwMode="auto">
          <a:xfrm rot="0" flipH="0" flipV="0">
            <a:off x="469672" y="3636599"/>
            <a:ext cx="343602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Medicine Expiration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6689756" name=""/>
          <p:cNvSpPr txBox="1"/>
          <p:nvPr/>
        </p:nvSpPr>
        <p:spPr bwMode="auto">
          <a:xfrm rot="0" flipH="0" flipV="0">
            <a:off x="6581797" y="3636599"/>
            <a:ext cx="343170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Error Prone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12313929" name=""/>
          <p:cNvSpPr txBox="1"/>
          <p:nvPr/>
        </p:nvSpPr>
        <p:spPr bwMode="auto">
          <a:xfrm rot="0" flipH="0" flipV="0">
            <a:off x="6581797" y="2557014"/>
            <a:ext cx="343494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Lack of Timely Alert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84062108" name=""/>
          <p:cNvSpPr txBox="1"/>
          <p:nvPr/>
        </p:nvSpPr>
        <p:spPr bwMode="auto">
          <a:xfrm rot="0" flipH="0" flipV="0">
            <a:off x="562949" y="2876549"/>
            <a:ext cx="460567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Difficulty in stock management using Notebooks &amp; Spreadsheet 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686537821" name=""/>
          <p:cNvSpPr txBox="1"/>
          <p:nvPr/>
        </p:nvSpPr>
        <p:spPr bwMode="auto">
          <a:xfrm rot="0" flipH="0" flipV="0">
            <a:off x="6734174" y="2876549"/>
            <a:ext cx="46024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Loss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of sales due to low or no stock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722471799" name=""/>
          <p:cNvSpPr txBox="1"/>
          <p:nvPr/>
        </p:nvSpPr>
        <p:spPr bwMode="auto">
          <a:xfrm rot="0" flipH="0" flipV="0">
            <a:off x="6818924" y="4056674"/>
            <a:ext cx="460747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Manual entry is tedious and error prone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341993350" name=""/>
          <p:cNvSpPr txBox="1"/>
          <p:nvPr/>
        </p:nvSpPr>
        <p:spPr bwMode="auto">
          <a:xfrm rot="0" flipH="0" flipV="0">
            <a:off x="647699" y="4056674"/>
            <a:ext cx="46063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Risk of selling expiring or expired medicine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062482" name="Text 0"/>
          <p:cNvSpPr/>
          <p:nvPr/>
        </p:nvSpPr>
        <p:spPr bwMode="auto">
          <a:xfrm>
            <a:off x="539874" y="1863477"/>
            <a:ext cx="8064252" cy="876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/>
                <a:ea typeface="Montserrat Bold"/>
                <a:cs typeface="Montserrat Bold"/>
              </a:rPr>
              <a:t>Solutions</a:t>
            </a:r>
            <a:endParaRPr sz="27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51722045" name=""/>
          <p:cNvSpPr txBox="1"/>
          <p:nvPr/>
        </p:nvSpPr>
        <p:spPr bwMode="auto">
          <a:xfrm rot="0" flipH="0" flipV="0">
            <a:off x="469672" y="2476499"/>
            <a:ext cx="344574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Centralized Record Keeping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30093075" name=""/>
          <p:cNvSpPr txBox="1"/>
          <p:nvPr/>
        </p:nvSpPr>
        <p:spPr bwMode="auto">
          <a:xfrm rot="0" flipH="0" flipV="0">
            <a:off x="469672" y="3636599"/>
            <a:ext cx="344934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Expiry Date &amp; Quality Control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85514459" name=""/>
          <p:cNvSpPr txBox="1"/>
          <p:nvPr/>
        </p:nvSpPr>
        <p:spPr bwMode="auto">
          <a:xfrm rot="0" flipH="0" flipV="0">
            <a:off x="6581797" y="3636599"/>
            <a:ext cx="34410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Reorder &amp; Low Stock Alerts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94789939" name=""/>
          <p:cNvSpPr txBox="1"/>
          <p:nvPr/>
        </p:nvSpPr>
        <p:spPr bwMode="auto">
          <a:xfrm rot="0" flipH="0" flipV="0">
            <a:off x="6581797" y="2557014"/>
            <a:ext cx="34464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Automated Stock Monitoring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53294087" name=""/>
          <p:cNvSpPr txBox="1"/>
          <p:nvPr/>
        </p:nvSpPr>
        <p:spPr bwMode="auto">
          <a:xfrm rot="0" flipH="0" flipV="0">
            <a:off x="562949" y="2876549"/>
            <a:ext cx="464311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To maintain accurate medicine inventory records through a computerized system.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4527352" name=""/>
          <p:cNvSpPr txBox="1"/>
          <p:nvPr/>
        </p:nvSpPr>
        <p:spPr bwMode="auto">
          <a:xfrm rot="0" flipH="0" flipV="0">
            <a:off x="6734174" y="2876549"/>
            <a:ext cx="462475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To automate stock quantity monitoring and inventory updates.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366213113" name=""/>
          <p:cNvSpPr txBox="1"/>
          <p:nvPr/>
        </p:nvSpPr>
        <p:spPr bwMode="auto">
          <a:xfrm rot="0" flipH="0" flipV="0">
            <a:off x="6818924" y="4056674"/>
            <a:ext cx="463735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To provide low-stock alerts when medicine quantity falls below the reorder level.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422553421" name=""/>
          <p:cNvSpPr txBox="1"/>
          <p:nvPr/>
        </p:nvSpPr>
        <p:spPr bwMode="auto">
          <a:xfrm rot="0" flipH="0" flipV="0">
            <a:off x="647699" y="4056674"/>
            <a:ext cx="464851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To monitor medicine expiry dates and generate alerts for near-expiry and expired medicines.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262149" name="Text 0"/>
          <p:cNvSpPr/>
          <p:nvPr/>
        </p:nvSpPr>
        <p:spPr bwMode="auto">
          <a:xfrm>
            <a:off x="539874" y="1863477"/>
            <a:ext cx="8064252" cy="876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/>
                <a:ea typeface="Montserrat Bold"/>
                <a:cs typeface="Montserrat Bold"/>
              </a:rPr>
              <a:t>Methodology</a:t>
            </a:r>
            <a:endParaRPr sz="27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20051189" name=""/>
          <p:cNvSpPr txBox="1"/>
          <p:nvPr/>
        </p:nvSpPr>
        <p:spPr bwMode="auto">
          <a:xfrm rot="0" flipH="0" flipV="0">
            <a:off x="469672" y="2476499"/>
            <a:ext cx="473711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Incremental Software Development Model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6127067" name=""/>
          <p:cNvSpPr txBox="1"/>
          <p:nvPr/>
        </p:nvSpPr>
        <p:spPr bwMode="auto">
          <a:xfrm rot="0" flipH="0" flipV="0">
            <a:off x="562949" y="2876549"/>
            <a:ext cx="107356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This approach was chosen because it permits constant improvement and addition of supervisor’s comments after each increment without breaking the whole system.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4626922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139665" y="3395070"/>
            <a:ext cx="6572250" cy="2790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287248" name="Text 0"/>
          <p:cNvSpPr/>
          <p:nvPr/>
        </p:nvSpPr>
        <p:spPr bwMode="auto">
          <a:xfrm>
            <a:off x="539874" y="1863477"/>
            <a:ext cx="8064252" cy="876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/>
                <a:ea typeface="Montserrat Bold"/>
                <a:cs typeface="Montserrat Bold"/>
              </a:rPr>
              <a:t>Requirement Collection</a:t>
            </a:r>
            <a:endParaRPr sz="27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837415" name=""/>
          <p:cNvSpPr txBox="1"/>
          <p:nvPr/>
        </p:nvSpPr>
        <p:spPr bwMode="auto">
          <a:xfrm rot="0" flipH="0" flipV="0">
            <a:off x="469672" y="2476499"/>
            <a:ext cx="474683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Functional Requirements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31163765" name=""/>
          <p:cNvSpPr txBox="1"/>
          <p:nvPr/>
        </p:nvSpPr>
        <p:spPr bwMode="auto">
          <a:xfrm rot="0" flipH="0" flipV="0">
            <a:off x="562949" y="2876549"/>
            <a:ext cx="1076267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Authentication: </a:t>
            </a:r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User should be able to securely login and logout.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585188714" name=""/>
          <p:cNvSpPr txBox="1"/>
          <p:nvPr/>
        </p:nvSpPr>
        <p:spPr bwMode="auto">
          <a:xfrm rot="0" flipH="0" flipV="0">
            <a:off x="581854" y="3245427"/>
            <a:ext cx="107896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Inventory CRUD: </a:t>
            </a:r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User should be able to add, edit, delete, search and categorize medicines.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947296818" name=""/>
          <p:cNvSpPr txBox="1"/>
          <p:nvPr/>
        </p:nvSpPr>
        <p:spPr bwMode="auto">
          <a:xfrm rot="0" flipH="0" flipV="0">
            <a:off x="603104" y="3941364"/>
            <a:ext cx="800174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Automated System Alerts: </a:t>
            </a:r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System should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automatically update stock and generate timely alerts for low stock and expiration status.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988593027" name=""/>
          <p:cNvSpPr txBox="1"/>
          <p:nvPr/>
        </p:nvSpPr>
        <p:spPr bwMode="auto">
          <a:xfrm rot="0" flipH="0" flipV="0">
            <a:off x="584199" y="3572487"/>
            <a:ext cx="1079363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Stock &amp; Expiry Tracking: </a:t>
            </a:r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User should be able to track and update medicine quantities and expiry dates.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602666" name="Text 0"/>
          <p:cNvSpPr/>
          <p:nvPr/>
        </p:nvSpPr>
        <p:spPr bwMode="auto">
          <a:xfrm>
            <a:off x="539874" y="1863477"/>
            <a:ext cx="8064252" cy="876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/>
                <a:ea typeface="Montserrat Bold"/>
                <a:cs typeface="Montserrat Bold"/>
              </a:rPr>
              <a:t>Requirement Collection</a:t>
            </a:r>
            <a:endParaRPr sz="27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92847884" name=""/>
          <p:cNvSpPr txBox="1"/>
          <p:nvPr/>
        </p:nvSpPr>
        <p:spPr bwMode="auto">
          <a:xfrm rot="0" flipH="0" flipV="0">
            <a:off x="469672" y="2476499"/>
            <a:ext cx="474827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Non-Functional Requirements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017583" name=""/>
          <p:cNvSpPr txBox="1"/>
          <p:nvPr/>
        </p:nvSpPr>
        <p:spPr bwMode="auto">
          <a:xfrm rot="0" flipH="0" flipV="0">
            <a:off x="562949" y="2876549"/>
            <a:ext cx="1078175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Usability: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Interface should be user-friendly.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953696449" name=""/>
          <p:cNvSpPr txBox="1"/>
          <p:nvPr/>
        </p:nvSpPr>
        <p:spPr bwMode="auto">
          <a:xfrm rot="0" flipH="0" flipV="0">
            <a:off x="581854" y="3245427"/>
            <a:ext cx="1083683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Performance &amp; Scalability: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System should have fast response time and be fully scalable to handle future growth.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547045539" name=""/>
          <p:cNvSpPr txBox="1"/>
          <p:nvPr/>
        </p:nvSpPr>
        <p:spPr bwMode="auto">
          <a:xfrm rot="0" flipH="0" flipV="0">
            <a:off x="603104" y="3941364"/>
            <a:ext cx="803270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Maintainability: </a:t>
            </a:r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System architecture should be easily maintainable over time.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814295899" name=""/>
          <p:cNvSpPr txBox="1"/>
          <p:nvPr/>
        </p:nvSpPr>
        <p:spPr bwMode="auto">
          <a:xfrm rot="0" flipH="0" flipV="0">
            <a:off x="584199" y="3572487"/>
            <a:ext cx="1083035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Security &amp; Integrity: </a:t>
            </a:r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System should ensure secure authentication and maintain strict data integrity.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571264" name="Text 0"/>
          <p:cNvSpPr/>
          <p:nvPr/>
        </p:nvSpPr>
        <p:spPr bwMode="auto">
          <a:xfrm>
            <a:off x="539874" y="1863477"/>
            <a:ext cx="8064252" cy="876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/>
                <a:ea typeface="Montserrat Bold"/>
                <a:cs typeface="Montserrat Bold"/>
              </a:rPr>
              <a:t>Feasibility Study</a:t>
            </a:r>
            <a:endParaRPr sz="27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8155182" name=""/>
          <p:cNvSpPr txBox="1"/>
          <p:nvPr/>
        </p:nvSpPr>
        <p:spPr bwMode="auto">
          <a:xfrm rot="0" flipH="0" flipV="0">
            <a:off x="469672" y="2476499"/>
            <a:ext cx="474467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 Feasibility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35528497" name=""/>
          <p:cNvSpPr txBox="1"/>
          <p:nvPr/>
        </p:nvSpPr>
        <p:spPr bwMode="auto">
          <a:xfrm rot="0" flipH="0" flipV="0">
            <a:off x="562948" y="2876549"/>
            <a:ext cx="970669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Highly feasible as development relies on open-source web technologies (PHP, MySQL, Javascript) and local development using XAMPP stack. Developer has sufficient knowledge for documentation and development. Hardware requirements are also minimal.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084576464" name=""/>
          <p:cNvSpPr txBox="1"/>
          <p:nvPr/>
        </p:nvSpPr>
        <p:spPr bwMode="auto">
          <a:xfrm rot="0" flipH="0" flipV="0">
            <a:off x="459172" y="3704249"/>
            <a:ext cx="474539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Operational Feasibility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8026798" name=""/>
          <p:cNvSpPr txBox="1"/>
          <p:nvPr/>
        </p:nvSpPr>
        <p:spPr bwMode="auto">
          <a:xfrm rot="0" flipH="0" flipV="0">
            <a:off x="552448" y="4104299"/>
            <a:ext cx="1078535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Feasible as project includes user-friendly interface, automated inventory management and reduced human errors.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958126077" name=""/>
          <p:cNvSpPr txBox="1"/>
          <p:nvPr/>
        </p:nvSpPr>
        <p:spPr bwMode="auto">
          <a:xfrm rot="0" flipH="0" flipV="0">
            <a:off x="448671" y="4836748"/>
            <a:ext cx="474574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</a:rPr>
              <a:t>Economic Feasibility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32042214" name=""/>
          <p:cNvSpPr txBox="1"/>
          <p:nvPr/>
        </p:nvSpPr>
        <p:spPr bwMode="auto">
          <a:xfrm rot="0" flipH="0" flipV="0">
            <a:off x="541948" y="5236799"/>
            <a:ext cx="1075943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Feasible as all tools used are free and open-source.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91943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87953" y="0"/>
            <a:ext cx="5416092" cy="6858000"/>
          </a:xfrm>
          <a:prstGeom prst="rect">
            <a:avLst/>
          </a:prstGeom>
        </p:spPr>
      </p:pic>
      <p:sp>
        <p:nvSpPr>
          <p:cNvPr id="859435946" name="Text 0"/>
          <p:cNvSpPr/>
          <p:nvPr/>
        </p:nvSpPr>
        <p:spPr bwMode="auto">
          <a:xfrm>
            <a:off x="539874" y="148977"/>
            <a:ext cx="8064252" cy="876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/>
                <a:ea typeface="Montserrat Bold"/>
                <a:cs typeface="Montserrat Bold"/>
              </a:rPr>
              <a:t>Flowchart</a:t>
            </a:r>
            <a:endParaRPr sz="27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993515" name="Text 0"/>
          <p:cNvSpPr/>
          <p:nvPr/>
        </p:nvSpPr>
        <p:spPr bwMode="auto">
          <a:xfrm>
            <a:off x="539874" y="1863477"/>
            <a:ext cx="8064252" cy="876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/>
                <a:ea typeface="Montserrat Bold"/>
                <a:cs typeface="Montserrat Bold"/>
              </a:rPr>
              <a:t>Gantt Chart</a:t>
            </a:r>
            <a:endParaRPr sz="27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243873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086100" y="1822952"/>
            <a:ext cx="7039949" cy="43624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552455" name="Text 0"/>
          <p:cNvSpPr/>
          <p:nvPr/>
        </p:nvSpPr>
        <p:spPr bwMode="auto">
          <a:xfrm>
            <a:off x="539874" y="1863477"/>
            <a:ext cx="8064252" cy="876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/>
                <a:ea typeface="Montserrat Bold"/>
                <a:cs typeface="Montserrat Bold"/>
              </a:rPr>
              <a:t>Expected Outcomes</a:t>
            </a:r>
            <a:endParaRPr sz="27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60655351" name=""/>
          <p:cNvSpPr txBox="1"/>
          <p:nvPr/>
        </p:nvSpPr>
        <p:spPr bwMode="auto">
          <a:xfrm rot="0" flipH="0" flipV="0">
            <a:off x="562948" y="2447924"/>
            <a:ext cx="1081487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Accurate Inventory Management: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Maintains organized and up-to-date medicine records.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025890444" name=""/>
          <p:cNvSpPr txBox="1"/>
          <p:nvPr/>
        </p:nvSpPr>
        <p:spPr bwMode="auto">
          <a:xfrm rot="0" flipH="0" flipV="0">
            <a:off x="581853" y="2816801"/>
            <a:ext cx="1087031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Automated Stock Monitoring: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Helps prevent inventory shortages through low-stock alerts.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453175010" name=""/>
          <p:cNvSpPr txBox="1"/>
          <p:nvPr/>
        </p:nvSpPr>
        <p:spPr bwMode="auto">
          <a:xfrm rot="0" flipH="0" flipV="0">
            <a:off x="603103" y="3512738"/>
            <a:ext cx="806618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Improved Operational Efficiency: </a:t>
            </a:r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Reduces manual record keeping and minimizes human erros.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88986212" name=""/>
          <p:cNvSpPr txBox="1"/>
          <p:nvPr/>
        </p:nvSpPr>
        <p:spPr bwMode="auto">
          <a:xfrm rot="0" flipH="0" flipV="0">
            <a:off x="584199" y="3143861"/>
            <a:ext cx="1086995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Expiry Date Tracking: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Reduces medicine wastage by identifying near-expiry and expired medicines.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675044" name="Text 0"/>
          <p:cNvSpPr/>
          <p:nvPr/>
        </p:nvSpPr>
        <p:spPr bwMode="auto">
          <a:xfrm>
            <a:off x="539874" y="1863477"/>
            <a:ext cx="8064252" cy="876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Bold"/>
                <a:ea typeface="Montserrat Bold"/>
                <a:cs typeface="Montserrat Bold"/>
              </a:rPr>
              <a:t>References</a:t>
            </a:r>
            <a:endParaRPr sz="27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68645428" name=""/>
          <p:cNvSpPr txBox="1"/>
          <p:nvPr/>
        </p:nvSpPr>
        <p:spPr bwMode="auto">
          <a:xfrm rot="0" flipH="0" flipV="0">
            <a:off x="562947" y="2447923"/>
            <a:ext cx="1082243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0" indent="-239820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Design: </a:t>
            </a:r>
            <a:r>
              <a:rPr sz="1200" u="sng">
                <a:solidFill>
                  <a:schemeClr val="hlink"/>
                </a:solidFill>
                <a:hlinkClick r:id="rId3" tooltip=""/>
              </a:rPr>
              <a:t>https://www.figma.com/</a:t>
            </a:r>
            <a:r>
              <a:rPr sz="12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704956619" name=""/>
          <p:cNvSpPr txBox="1"/>
          <p:nvPr/>
        </p:nvSpPr>
        <p:spPr bwMode="auto">
          <a:xfrm rot="0" flipH="0" flipV="0">
            <a:off x="581852" y="2816800"/>
            <a:ext cx="1087787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0" indent="-239820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HTML: </a:t>
            </a:r>
            <a:r>
              <a:rPr sz="1200" u="sng">
                <a:solidFill>
                  <a:schemeClr val="hlink"/>
                </a:solidFill>
                <a:hlinkClick r:id="rId4" tooltip=""/>
              </a:rPr>
              <a:t>https://www.w3schools.com/Html/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558926336" name=""/>
          <p:cNvSpPr txBox="1"/>
          <p:nvPr/>
        </p:nvSpPr>
        <p:spPr bwMode="auto">
          <a:xfrm rot="0" flipH="0" flipV="0">
            <a:off x="603102" y="3512737"/>
            <a:ext cx="807481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0" indent="-239820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Javascript: </a:t>
            </a:r>
            <a:r>
              <a:rPr sz="1200" u="sng">
                <a:solidFill>
                  <a:schemeClr val="hlink"/>
                </a:solidFill>
                <a:hlinkClick r:id="rId5" tooltip=""/>
              </a:rPr>
              <a:t>https://www.w3schools.com/js/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67760818" name=""/>
          <p:cNvSpPr txBox="1"/>
          <p:nvPr/>
        </p:nvSpPr>
        <p:spPr bwMode="auto">
          <a:xfrm rot="0" flipH="0" flipV="0">
            <a:off x="584199" y="3143860"/>
            <a:ext cx="1087715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0" indent="-239820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CSS: </a:t>
            </a:r>
            <a:r>
              <a:rPr sz="1200" u="sng">
                <a:solidFill>
                  <a:schemeClr val="hlink"/>
                </a:solidFill>
                <a:hlinkClick r:id="rId6" tooltip=""/>
              </a:rPr>
              <a:t>https://www.w3schools.com/css/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881000934" name=""/>
          <p:cNvSpPr txBox="1"/>
          <p:nvPr/>
        </p:nvSpPr>
        <p:spPr bwMode="auto">
          <a:xfrm rot="0" flipH="0" flipV="0">
            <a:off x="640227" y="4883362"/>
            <a:ext cx="808417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0" indent="-239820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MDN Web Docs: </a:t>
            </a:r>
            <a:r>
              <a:rPr sz="1200" u="sng">
                <a:solidFill>
                  <a:schemeClr val="hlink"/>
                </a:solidFill>
                <a:hlinkClick r:id="rId7" tooltip=""/>
              </a:rPr>
              <a:t>https://developer.mozilla.org/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008704696" name=""/>
          <p:cNvSpPr txBox="1"/>
          <p:nvPr/>
        </p:nvSpPr>
        <p:spPr bwMode="auto">
          <a:xfrm rot="0" flipH="0" flipV="0">
            <a:off x="621323" y="4514485"/>
            <a:ext cx="1088003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0" indent="-239820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XAMPP: </a:t>
            </a:r>
            <a:r>
              <a:rPr sz="1200" u="sng">
                <a:solidFill>
                  <a:schemeClr val="hlink"/>
                </a:solidFill>
                <a:hlinkClick r:id="rId8" tooltip=""/>
              </a:rPr>
              <a:t>https://www.apachefriends.org/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503077357" name=""/>
          <p:cNvSpPr txBox="1"/>
          <p:nvPr/>
        </p:nvSpPr>
        <p:spPr bwMode="auto">
          <a:xfrm rot="0" flipH="0" flipV="0">
            <a:off x="618977" y="4187425"/>
            <a:ext cx="1088903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0" indent="-239820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MySQL Reference Manual: </a:t>
            </a:r>
            <a:r>
              <a:rPr sz="1200" u="sng">
                <a:solidFill>
                  <a:schemeClr val="hlink"/>
                </a:solidFill>
                <a:hlinkClick r:id="rId9" tooltip=""/>
              </a:rPr>
              <a:t>https://dev.mysql.com/doc/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95385106" name=""/>
          <p:cNvSpPr txBox="1"/>
          <p:nvPr/>
        </p:nvSpPr>
        <p:spPr bwMode="auto">
          <a:xfrm rot="0" flipH="0" flipV="0">
            <a:off x="600072" y="3818548"/>
            <a:ext cx="108328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0" indent="-239820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PHP Official Documentation: </a:t>
            </a:r>
            <a:r>
              <a:rPr sz="1200" u="sng">
                <a:solidFill>
                  <a:schemeClr val="hlink"/>
                </a:solidFill>
                <a:hlinkClick r:id="rId10" tooltip=""/>
              </a:rPr>
              <a:t>https://www.php.net/docs.php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90735881" name=""/>
          <p:cNvSpPr txBox="1"/>
          <p:nvPr/>
        </p:nvSpPr>
        <p:spPr bwMode="auto">
          <a:xfrm rot="0" flipH="0" flipV="0">
            <a:off x="629727" y="5158612"/>
            <a:ext cx="809893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0" indent="-239820">
              <a:buFont typeface="Arial"/>
              <a:buChar char="•"/>
              <a:defRPr/>
            </a:pPr>
            <a:r>
              <a: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Use Case Diagram &amp; Flowchart: </a:t>
            </a:r>
            <a:r>
              <a:rPr sz="1200" u="sng">
                <a:solidFill>
                  <a:schemeClr val="hlink"/>
                </a:solidFill>
                <a:hlinkClick r:id="rId11" tooltip=""/>
              </a:rPr>
              <a:t>https://app.diagrams.net/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2026-06-05T05:44:17Z</dcterms:modified>
</cp:coreProperties>
</file>